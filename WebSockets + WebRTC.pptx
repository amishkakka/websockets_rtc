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Roboto Mono" pitchFamily="49"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33A653-533B-4F50-8FD6-5E479F76AB2F}">
  <a:tblStyle styleId="{7633A653-533B-4F50-8FD6-5E479F76AB2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143"/>
  </p:normalViewPr>
  <p:slideViewPr>
    <p:cSldViewPr snapToGrid="0">
      <p:cViewPr varScale="1">
        <p:scale>
          <a:sx n="111" d="100"/>
          <a:sy n="111" d="100"/>
        </p:scale>
        <p:origin x="98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100" b="0" i="0" u="none" strike="noStrike" cap="none" dirty="0">
                <a:solidFill>
                  <a:srgbClr val="000000"/>
                </a:solidFill>
                <a:effectLst/>
                <a:latin typeface="Arial"/>
                <a:ea typeface="Arial"/>
                <a:cs typeface="Arial"/>
                <a:sym typeface="Arial"/>
              </a:rPr>
              <a:t>"Hi, we are [names], and this is our SER 421 final project.</a:t>
            </a:r>
            <a:endParaRPr lang="en-US" b="0" i="0" u="none" strike="noStrike" dirty="0">
              <a:solidFill>
                <a:srgbClr val="000000"/>
              </a:solidFill>
              <a:effectLst/>
            </a:endParaRPr>
          </a:p>
          <a:p>
            <a:pPr rtl="0"/>
            <a:r>
              <a:rPr lang="en-US" sz="1100" b="0" i="0" u="none" strike="noStrike" cap="none" dirty="0">
                <a:solidFill>
                  <a:srgbClr val="000000"/>
                </a:solidFill>
                <a:effectLst/>
                <a:latin typeface="Arial"/>
                <a:ea typeface="Arial"/>
                <a:cs typeface="Arial"/>
                <a:sym typeface="Arial"/>
              </a:rPr>
              <a:t>Our topic is </a:t>
            </a:r>
            <a:r>
              <a:rPr lang="en-US" sz="1100" b="0" i="0" u="none" strike="noStrike" cap="none" dirty="0" err="1">
                <a:solidFill>
                  <a:srgbClr val="000000"/>
                </a:solidFill>
                <a:effectLst/>
                <a:latin typeface="Arial"/>
                <a:ea typeface="Arial"/>
                <a:cs typeface="Arial"/>
                <a:sym typeface="Arial"/>
              </a:rPr>
              <a:t>WebSockets</a:t>
            </a:r>
            <a:r>
              <a:rPr lang="en-US" sz="1100" b="0" i="0" u="none" strike="noStrike" cap="none" dirty="0">
                <a:solidFill>
                  <a:srgbClr val="000000"/>
                </a:solidFill>
                <a:effectLst/>
                <a:latin typeface="Arial"/>
                <a:ea typeface="Arial"/>
                <a:cs typeface="Arial"/>
                <a:sym typeface="Arial"/>
              </a:rPr>
              <a:t> and WebRTC, and we wrapped those into a tutorial and a working demo called Realtime Study Rooms.</a:t>
            </a:r>
            <a:endParaRPr lang="en-US" b="0" i="0" u="none" strike="noStrike" dirty="0">
              <a:solidFill>
                <a:srgbClr val="000000"/>
              </a:solidFill>
              <a:effectLst/>
            </a:endParaRPr>
          </a:p>
          <a:p>
            <a:pPr rtl="0"/>
            <a:r>
              <a:rPr lang="en-US" sz="1100" b="0" i="0" u="none" strike="noStrike" cap="none" dirty="0">
                <a:solidFill>
                  <a:srgbClr val="000000"/>
                </a:solidFill>
                <a:effectLst/>
                <a:latin typeface="Arial"/>
                <a:ea typeface="Arial"/>
                <a:cs typeface="Arial"/>
                <a:sym typeface="Arial"/>
              </a:rPr>
              <a:t>The idea is: instead of just reading about </a:t>
            </a:r>
            <a:r>
              <a:rPr lang="en-US" sz="1100" b="0" i="0" u="none" strike="noStrike" cap="none" dirty="0" err="1">
                <a:solidFill>
                  <a:srgbClr val="000000"/>
                </a:solidFill>
                <a:effectLst/>
                <a:latin typeface="Arial"/>
                <a:ea typeface="Arial"/>
                <a:cs typeface="Arial"/>
                <a:sym typeface="Arial"/>
              </a:rPr>
              <a:t>realtime</a:t>
            </a:r>
            <a:r>
              <a:rPr lang="en-US" sz="1100" b="0" i="0" u="none" strike="noStrike" cap="none" dirty="0">
                <a:solidFill>
                  <a:srgbClr val="000000"/>
                </a:solidFill>
                <a:effectLst/>
                <a:latin typeface="Arial"/>
                <a:ea typeface="Arial"/>
                <a:cs typeface="Arial"/>
                <a:sym typeface="Arial"/>
              </a:rPr>
              <a:t> web tech, the learner walks through a structured tutorial, then builds a study-room app with live chat, presence, and video calls.</a:t>
            </a:r>
            <a:endParaRPr lang="en-US" b="0" i="0" u="none" strike="noStrike" dirty="0">
              <a:solidFill>
                <a:srgbClr val="000000"/>
              </a:solidFill>
              <a:effectLst/>
            </a:endParaRPr>
          </a:p>
          <a:p>
            <a:pPr rtl="0"/>
            <a:r>
              <a:rPr lang="en-US" sz="1100" b="0" i="0" u="none" strike="noStrike" cap="none" dirty="0">
                <a:solidFill>
                  <a:srgbClr val="000000"/>
                </a:solidFill>
                <a:effectLst/>
                <a:latin typeface="Arial"/>
                <a:ea typeface="Arial"/>
                <a:cs typeface="Arial"/>
                <a:sym typeface="Arial"/>
              </a:rPr>
              <a:t>The project deliverables are a tutorial web site with modules and references, plus a demo app with both a full implementation and a starter version that students can work from.</a:t>
            </a:r>
            <a:endParaRPr lang="en-US" b="0" i="0" u="none" strike="noStrike" dirty="0">
              <a:solidFill>
                <a:srgbClr val="000000"/>
              </a:solidFill>
              <a:effectLst/>
            </a:endParaRPr>
          </a:p>
          <a:p>
            <a:pPr rtl="0"/>
            <a:r>
              <a:rPr lang="en-US" sz="1100" b="0" i="0" u="none" strike="noStrike" cap="none" dirty="0">
                <a:solidFill>
                  <a:srgbClr val="000000"/>
                </a:solidFill>
                <a:effectLst/>
                <a:latin typeface="Arial"/>
                <a:ea typeface="Arial"/>
                <a:cs typeface="Arial"/>
                <a:sym typeface="Arial"/>
              </a:rPr>
              <a:t>In this talk we will walk through what the tutorial teaches, how the demo is built, and a short analysis of when this tech is actually worth using.</a:t>
            </a:r>
            <a:endParaRPr lang="en-US" b="0" i="0" u="none" strike="noStrike" dirty="0">
              <a:solidFill>
                <a:srgbClr val="000000"/>
              </a:solidFill>
              <a:effectLst/>
            </a:endParaRPr>
          </a:p>
          <a:p>
            <a:br>
              <a:rPr lang="en-US" dirty="0"/>
            </a:br>
            <a:br>
              <a:rPr lang="en-US" dirty="0"/>
            </a:b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917eee51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917eee51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100" b="0" i="0" u="none" strike="noStrike" cap="none" dirty="0">
                <a:solidFill>
                  <a:srgbClr val="000000"/>
                </a:solidFill>
                <a:effectLst/>
                <a:latin typeface="Arial"/>
                <a:ea typeface="Arial"/>
                <a:cs typeface="Arial"/>
                <a:sym typeface="Arial"/>
              </a:rPr>
              <a:t>Before jumping into the tutorial, we wanted to ground why this topic exists.</a:t>
            </a:r>
            <a:endParaRPr lang="en-US" b="0" i="0" u="none" strike="noStrike" dirty="0">
              <a:solidFill>
                <a:srgbClr val="000000"/>
              </a:solidFill>
              <a:effectLst/>
            </a:endParaRPr>
          </a:p>
          <a:p>
            <a:pPr rtl="0"/>
            <a:r>
              <a:rPr lang="en-US" sz="1100" b="0" i="0" u="none" strike="noStrike" cap="none" dirty="0">
                <a:solidFill>
                  <a:srgbClr val="000000"/>
                </a:solidFill>
                <a:effectLst/>
                <a:latin typeface="Arial"/>
                <a:ea typeface="Arial"/>
                <a:cs typeface="Arial"/>
                <a:sym typeface="Arial"/>
              </a:rPr>
              <a:t>Modern web apps are not just CRUD over HTTP anymore. Things like collaborative editors, multiplayer games, and video calls all need low latency, bidirectional communication and awareness of who is online right now.</a:t>
            </a:r>
            <a:endParaRPr lang="en-US" b="0" i="0" u="none" strike="noStrike" dirty="0">
              <a:solidFill>
                <a:srgbClr val="000000"/>
              </a:solidFill>
              <a:effectLst/>
            </a:endParaRPr>
          </a:p>
          <a:p>
            <a:pPr rtl="0"/>
            <a:r>
              <a:rPr lang="en-US" sz="1100" b="0" i="0" u="none" strike="noStrike" cap="none" dirty="0">
                <a:solidFill>
                  <a:srgbClr val="000000"/>
                </a:solidFill>
                <a:effectLst/>
                <a:latin typeface="Arial"/>
                <a:ea typeface="Arial"/>
                <a:cs typeface="Arial"/>
                <a:sym typeface="Arial"/>
              </a:rPr>
              <a:t>Plain HTTP is great for request response, but it is awkward for </a:t>
            </a:r>
            <a:r>
              <a:rPr lang="en-US" sz="1100" b="0" i="0" u="none" strike="noStrike" cap="none" dirty="0" err="1">
                <a:solidFill>
                  <a:srgbClr val="000000"/>
                </a:solidFill>
                <a:effectLst/>
                <a:latin typeface="Arial"/>
                <a:ea typeface="Arial"/>
                <a:cs typeface="Arial"/>
                <a:sym typeface="Arial"/>
              </a:rPr>
              <a:t>realtime</a:t>
            </a:r>
            <a:r>
              <a:rPr lang="en-US" sz="1100" b="0" i="0" u="none" strike="noStrike" cap="none" dirty="0">
                <a:solidFill>
                  <a:srgbClr val="000000"/>
                </a:solidFill>
                <a:effectLst/>
                <a:latin typeface="Arial"/>
                <a:ea typeface="Arial"/>
                <a:cs typeface="Arial"/>
                <a:sym typeface="Arial"/>
              </a:rPr>
              <a:t>: you end up polling or long polling, which is wasteful and still laggy.</a:t>
            </a:r>
            <a:endParaRPr lang="en-US" b="0" i="0" u="none" strike="noStrike" dirty="0">
              <a:solidFill>
                <a:srgbClr val="000000"/>
              </a:solidFill>
              <a:effectLst/>
            </a:endParaRPr>
          </a:p>
          <a:p>
            <a:pPr rtl="0"/>
            <a:r>
              <a:rPr lang="en-US" sz="1100" b="0" i="0" u="none" strike="noStrike" cap="none" dirty="0" err="1">
                <a:solidFill>
                  <a:srgbClr val="000000"/>
                </a:solidFill>
                <a:effectLst/>
                <a:latin typeface="Arial"/>
                <a:ea typeface="Arial"/>
                <a:cs typeface="Arial"/>
                <a:sym typeface="Arial"/>
              </a:rPr>
              <a:t>WebSockets</a:t>
            </a:r>
            <a:r>
              <a:rPr lang="en-US" sz="1100" b="0" i="0" u="none" strike="noStrike" cap="none" dirty="0">
                <a:solidFill>
                  <a:srgbClr val="000000"/>
                </a:solidFill>
                <a:effectLst/>
                <a:latin typeface="Arial"/>
                <a:ea typeface="Arial"/>
                <a:cs typeface="Arial"/>
                <a:sym typeface="Arial"/>
              </a:rPr>
              <a:t> fix the transport side by giving you a long lived, bidirectional channel between browser and server. That works well for chat, presence, and also as a signaling channel.</a:t>
            </a:r>
            <a:endParaRPr lang="en-US" b="0" i="0" u="none" strike="noStrike" dirty="0">
              <a:solidFill>
                <a:srgbClr val="000000"/>
              </a:solidFill>
              <a:effectLst/>
            </a:endParaRPr>
          </a:p>
          <a:p>
            <a:pPr rtl="0"/>
            <a:r>
              <a:rPr lang="en-US" sz="1100" b="0" i="0" u="none" strike="noStrike" cap="none" dirty="0">
                <a:solidFill>
                  <a:srgbClr val="000000"/>
                </a:solidFill>
                <a:effectLst/>
                <a:latin typeface="Arial"/>
                <a:ea typeface="Arial"/>
                <a:cs typeface="Arial"/>
                <a:sym typeface="Arial"/>
              </a:rPr>
              <a:t>WebRTC then tackles the media side. It lets browsers establish peer to peer audio and video connections, while still using something like </a:t>
            </a:r>
            <a:r>
              <a:rPr lang="en-US" sz="1100" b="0" i="0" u="none" strike="noStrike" cap="none" dirty="0" err="1">
                <a:solidFill>
                  <a:srgbClr val="000000"/>
                </a:solidFill>
                <a:effectLst/>
                <a:latin typeface="Arial"/>
                <a:ea typeface="Arial"/>
                <a:cs typeface="Arial"/>
                <a:sym typeface="Arial"/>
              </a:rPr>
              <a:t>WebSockets</a:t>
            </a:r>
            <a:r>
              <a:rPr lang="en-US" sz="1100" b="0" i="0" u="none" strike="noStrike" cap="none" dirty="0">
                <a:solidFill>
                  <a:srgbClr val="000000"/>
                </a:solidFill>
                <a:effectLst/>
                <a:latin typeface="Arial"/>
                <a:ea typeface="Arial"/>
                <a:cs typeface="Arial"/>
                <a:sym typeface="Arial"/>
              </a:rPr>
              <a:t> underneath to exchange offers, answers, and ICE candidates.</a:t>
            </a:r>
            <a:endParaRPr lang="en-US" b="0" i="0" u="none" strike="noStrike" dirty="0">
              <a:solidFill>
                <a:srgbClr val="000000"/>
              </a:solidFill>
              <a:effectLst/>
            </a:endParaRPr>
          </a:p>
          <a:p>
            <a:pPr rtl="0"/>
            <a:r>
              <a:rPr lang="en-US" sz="1100" b="0" i="0" u="none" strike="noStrike" cap="none" dirty="0">
                <a:solidFill>
                  <a:srgbClr val="000000"/>
                </a:solidFill>
                <a:effectLst/>
                <a:latin typeface="Arial"/>
                <a:ea typeface="Arial"/>
                <a:cs typeface="Arial"/>
                <a:sym typeface="Arial"/>
              </a:rPr>
              <a:t>Our tutorial leans into that combination: we use </a:t>
            </a:r>
            <a:r>
              <a:rPr lang="en-US" sz="1100" b="0" i="0" u="none" strike="noStrike" cap="none" dirty="0" err="1">
                <a:solidFill>
                  <a:srgbClr val="000000"/>
                </a:solidFill>
                <a:effectLst/>
                <a:latin typeface="Arial"/>
                <a:ea typeface="Arial"/>
                <a:cs typeface="Arial"/>
                <a:sym typeface="Arial"/>
              </a:rPr>
              <a:t>WebSockets</a:t>
            </a:r>
            <a:r>
              <a:rPr lang="en-US" sz="1100" b="0" i="0" u="none" strike="noStrike" cap="none" dirty="0">
                <a:solidFill>
                  <a:srgbClr val="000000"/>
                </a:solidFill>
                <a:effectLst/>
                <a:latin typeface="Arial"/>
                <a:ea typeface="Arial"/>
                <a:cs typeface="Arial"/>
                <a:sym typeface="Arial"/>
              </a:rPr>
              <a:t> for state and signaling, and WebRTC for media, all wrapped around a study room app that actually feels like something you might build in the real world.</a:t>
            </a:r>
            <a:endParaRPr lang="en-US" b="0" i="0" u="none" strike="noStrike" dirty="0">
              <a:solidFill>
                <a:srgbClr val="000000"/>
              </a:solidFill>
              <a:effectLst/>
            </a:endParaRPr>
          </a:p>
          <a:p>
            <a:br>
              <a:rPr lang="en-US"/>
            </a:br>
            <a:br>
              <a:rPr lang="en-US"/>
            </a:b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917eee511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917eee511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917eee5112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917eee511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917eee5112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917eee511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917eee5112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917eee5112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917eee511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917eee511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917eee5112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917eee5112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917eee5112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917eee5112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917eee5112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917eee5112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917eee5112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917eee5112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917eee5112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917eee511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917eee5112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917eee511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53"/>
        <p:cNvGrpSpPr/>
        <p:nvPr/>
      </p:nvGrpSpPr>
      <p:grpSpPr>
        <a:xfrm>
          <a:off x="0" y="0"/>
          <a:ext cx="0" cy="0"/>
          <a:chOff x="0" y="0"/>
          <a:chExt cx="0" cy="0"/>
        </a:xfrm>
      </p:grpSpPr>
      <p:sp>
        <p:nvSpPr>
          <p:cNvPr id="54" name="Google Shape;54;p13"/>
          <p:cNvSpPr/>
          <p:nvPr/>
        </p:nvSpPr>
        <p:spPr>
          <a:xfrm>
            <a:off x="508700" y="2034800"/>
            <a:ext cx="8241000" cy="1473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55;p13"/>
          <p:cNvSpPr txBox="1">
            <a:spLocks noGrp="1"/>
          </p:cNvSpPr>
          <p:nvPr>
            <p:ph type="ctrTitle"/>
          </p:nvPr>
        </p:nvSpPr>
        <p:spPr>
          <a:xfrm>
            <a:off x="356925" y="461950"/>
            <a:ext cx="8520600" cy="1199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t>WebSockets + WebRTC</a:t>
            </a:r>
            <a:endParaRPr/>
          </a:p>
          <a:p>
            <a:pPr marL="0" lvl="0" indent="0" algn="ctr" rtl="0">
              <a:lnSpc>
                <a:spcPct val="115000"/>
              </a:lnSpc>
              <a:spcBef>
                <a:spcPts val="1200"/>
              </a:spcBef>
              <a:spcAft>
                <a:spcPts val="1200"/>
              </a:spcAft>
              <a:buClr>
                <a:schemeClr val="dk1"/>
              </a:buClr>
              <a:buSzPct val="45833"/>
              <a:buFont typeface="Arial"/>
              <a:buNone/>
            </a:pPr>
            <a:r>
              <a:rPr lang="en" sz="2400">
                <a:solidFill>
                  <a:srgbClr val="188038"/>
                </a:solidFill>
                <a:latin typeface="Roboto Mono"/>
                <a:ea typeface="Roboto Mono"/>
                <a:cs typeface="Roboto Mono"/>
                <a:sym typeface="Roboto Mono"/>
              </a:rPr>
              <a:t>Realtime Study Rooms Tutorial</a:t>
            </a:r>
            <a:endParaRPr/>
          </a:p>
        </p:txBody>
      </p:sp>
      <p:sp>
        <p:nvSpPr>
          <p:cNvPr id="56" name="Google Shape;56;p13"/>
          <p:cNvSpPr txBox="1">
            <a:spLocks noGrp="1"/>
          </p:cNvSpPr>
          <p:nvPr>
            <p:ph type="subTitle" idx="1"/>
          </p:nvPr>
        </p:nvSpPr>
        <p:spPr>
          <a:xfrm>
            <a:off x="311700" y="1986300"/>
            <a:ext cx="8520600" cy="1473000"/>
          </a:xfrm>
          <a:prstGeom prst="rect">
            <a:avLst/>
          </a:prstGeom>
        </p:spPr>
        <p:txBody>
          <a:bodyPr spcFirstLastPara="1" wrap="square" lIns="91425" tIns="91425" rIns="91425" bIns="91425" anchor="t" anchorCtr="0">
            <a:normAutofit fontScale="70000" lnSpcReduction="20000"/>
          </a:bodyPr>
          <a:lstStyle/>
          <a:p>
            <a:pPr marL="0" lvl="0" indent="0" algn="ctr" rtl="0">
              <a:lnSpc>
                <a:spcPct val="115000"/>
              </a:lnSpc>
              <a:spcBef>
                <a:spcPts val="1200"/>
              </a:spcBef>
              <a:spcAft>
                <a:spcPts val="0"/>
              </a:spcAft>
              <a:buNone/>
            </a:pPr>
            <a:r>
              <a:rPr lang="en" sz="2400" b="1" dirty="0">
                <a:solidFill>
                  <a:schemeClr val="dk1"/>
                </a:solidFill>
              </a:rPr>
              <a:t>Team 10</a:t>
            </a:r>
            <a:endParaRPr sz="2400" b="1" dirty="0">
              <a:solidFill>
                <a:schemeClr val="dk1"/>
              </a:solidFill>
            </a:endParaRPr>
          </a:p>
          <a:p>
            <a:pPr marL="0" lvl="0" indent="457200" algn="ctr" rtl="0">
              <a:lnSpc>
                <a:spcPct val="115000"/>
              </a:lnSpc>
              <a:spcBef>
                <a:spcPts val="1200"/>
              </a:spcBef>
              <a:spcAft>
                <a:spcPts val="1200"/>
              </a:spcAft>
              <a:buClr>
                <a:schemeClr val="dk1"/>
              </a:buClr>
              <a:buSzPts val="1100"/>
              <a:buFont typeface="Arial"/>
              <a:buNone/>
            </a:pPr>
            <a:r>
              <a:rPr lang="en" sz="2400" b="1" dirty="0">
                <a:solidFill>
                  <a:schemeClr val="dk1"/>
                </a:solidFill>
              </a:rPr>
              <a:t>        Amish </a:t>
            </a:r>
            <a:r>
              <a:rPr lang="en" sz="2400" b="1" dirty="0" err="1">
                <a:solidFill>
                  <a:schemeClr val="dk1"/>
                </a:solidFill>
              </a:rPr>
              <a:t>Kakka</a:t>
            </a:r>
            <a:r>
              <a:rPr lang="en" sz="2400" b="1" dirty="0">
                <a:solidFill>
                  <a:schemeClr val="dk1"/>
                </a:solidFill>
              </a:rPr>
              <a:t>					Suryansh Purohit		Sahithi </a:t>
            </a:r>
            <a:r>
              <a:rPr lang="en" sz="2400" b="1" dirty="0" err="1">
                <a:solidFill>
                  <a:schemeClr val="dk1"/>
                </a:solidFill>
              </a:rPr>
              <a:t>Karangala</a:t>
            </a:r>
            <a:r>
              <a:rPr lang="en" sz="2400" b="1" dirty="0">
                <a:solidFill>
                  <a:schemeClr val="dk1"/>
                </a:solidFill>
              </a:rPr>
              <a:t>				      Harshvardhan Kuthadi</a:t>
            </a:r>
            <a:endParaRPr sz="2400" b="1" dirty="0">
              <a:solidFill>
                <a:schemeClr val="dk1"/>
              </a:solidFill>
            </a:endParaRPr>
          </a:p>
        </p:txBody>
      </p:sp>
      <p:pic>
        <p:nvPicPr>
          <p:cNvPr id="57" name="Google Shape;57;p13"/>
          <p:cNvPicPr preferRelativeResize="0"/>
          <p:nvPr/>
        </p:nvPicPr>
        <p:blipFill>
          <a:blip r:embed="rId3">
            <a:alphaModFix/>
          </a:blip>
          <a:stretch>
            <a:fillRect/>
          </a:stretch>
        </p:blipFill>
        <p:spPr>
          <a:xfrm>
            <a:off x="2814800" y="3606100"/>
            <a:ext cx="3357399" cy="14729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311700" y="1511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None/>
            </a:pPr>
            <a:r>
              <a:rPr lang="en" sz="2500">
                <a:solidFill>
                  <a:srgbClr val="A61C00"/>
                </a:solidFill>
              </a:rPr>
              <a:t>Why WebSockets + WebRTC?</a:t>
            </a:r>
            <a:endParaRPr sz="2500">
              <a:solidFill>
                <a:srgbClr val="A61C00"/>
              </a:solidFill>
            </a:endParaRPr>
          </a:p>
        </p:txBody>
      </p:sp>
      <p:sp>
        <p:nvSpPr>
          <p:cNvPr id="63" name="Google Shape;63;p14"/>
          <p:cNvSpPr txBox="1">
            <a:spLocks noGrp="1"/>
          </p:cNvSpPr>
          <p:nvPr>
            <p:ph type="body" idx="1"/>
          </p:nvPr>
        </p:nvSpPr>
        <p:spPr>
          <a:xfrm>
            <a:off x="311700" y="723825"/>
            <a:ext cx="4730100" cy="42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Modern App Needs:</a:t>
            </a:r>
            <a:endParaRPr b="1">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Live chat, presence, and collaboration</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Low latency audio/video</a:t>
            </a:r>
            <a:endParaRPr>
              <a:solidFill>
                <a:schemeClr val="dk1"/>
              </a:solidFill>
            </a:endParaRPr>
          </a:p>
          <a:p>
            <a:pPr marL="0" lvl="0" indent="0" algn="l" rtl="0">
              <a:spcBef>
                <a:spcPts val="1200"/>
              </a:spcBef>
              <a:spcAft>
                <a:spcPts val="0"/>
              </a:spcAft>
              <a:buClr>
                <a:schemeClr val="dk1"/>
              </a:buClr>
              <a:buSzPts val="1100"/>
              <a:buFont typeface="Arial"/>
              <a:buNone/>
            </a:pPr>
            <a:r>
              <a:rPr lang="en" b="1">
                <a:solidFill>
                  <a:schemeClr val="dk1"/>
                </a:solidFill>
              </a:rPr>
              <a:t>The HTTP Limit:</a:t>
            </a:r>
            <a:endParaRPr b="1">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Struggles with server push and efficient realtime updates</a:t>
            </a:r>
            <a:endParaRPr>
              <a:solidFill>
                <a:schemeClr val="dk1"/>
              </a:solidFill>
            </a:endParaRPr>
          </a:p>
          <a:p>
            <a:pPr marL="0" lvl="0" indent="0" algn="l" rtl="0">
              <a:spcBef>
                <a:spcPts val="1200"/>
              </a:spcBef>
              <a:spcAft>
                <a:spcPts val="0"/>
              </a:spcAft>
              <a:buClr>
                <a:schemeClr val="dk1"/>
              </a:buClr>
              <a:buSzPts val="1100"/>
              <a:buFont typeface="Arial"/>
              <a:buNone/>
            </a:pPr>
            <a:r>
              <a:rPr lang="en" b="1">
                <a:solidFill>
                  <a:schemeClr val="dk1"/>
                </a:solidFill>
              </a:rPr>
              <a:t>The Solution:</a:t>
            </a:r>
            <a:endParaRPr b="1">
              <a:solidFill>
                <a:schemeClr val="dk1"/>
              </a:solidFill>
            </a:endParaRPr>
          </a:p>
          <a:p>
            <a:pPr marL="457200" lvl="0" indent="-342900" algn="l" rtl="0">
              <a:spcBef>
                <a:spcPts val="1200"/>
              </a:spcBef>
              <a:spcAft>
                <a:spcPts val="0"/>
              </a:spcAft>
              <a:buClr>
                <a:schemeClr val="dk1"/>
              </a:buClr>
              <a:buSzPts val="1800"/>
              <a:buChar char="●"/>
            </a:pPr>
            <a:r>
              <a:rPr lang="en" b="1">
                <a:solidFill>
                  <a:schemeClr val="dk1"/>
                </a:solidFill>
              </a:rPr>
              <a:t>WebSockets:</a:t>
            </a:r>
            <a:r>
              <a:rPr lang="en">
                <a:solidFill>
                  <a:schemeClr val="dk1"/>
                </a:solidFill>
              </a:rPr>
              <a:t> Long-lived, bidirectional connection</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WebRTC:</a:t>
            </a:r>
            <a:r>
              <a:rPr lang="en">
                <a:solidFill>
                  <a:schemeClr val="dk1"/>
                </a:solidFill>
              </a:rPr>
              <a:t> Peer-to-peer media in the browser </a:t>
            </a:r>
            <a:endParaRPr>
              <a:solidFill>
                <a:schemeClr val="dk1"/>
              </a:solidFill>
            </a:endParaRPr>
          </a:p>
          <a:p>
            <a:pPr marL="0" lvl="0" indent="0" algn="l" rtl="0">
              <a:spcBef>
                <a:spcPts val="1200"/>
              </a:spcBef>
              <a:spcAft>
                <a:spcPts val="1200"/>
              </a:spcAft>
              <a:buNone/>
            </a:pPr>
            <a:endParaRPr/>
          </a:p>
        </p:txBody>
      </p:sp>
      <p:pic>
        <p:nvPicPr>
          <p:cNvPr id="64" name="Google Shape;64;p14" title="polling-vs-socket.png"/>
          <p:cNvPicPr preferRelativeResize="0"/>
          <p:nvPr/>
        </p:nvPicPr>
        <p:blipFill>
          <a:blip r:embed="rId3">
            <a:alphaModFix/>
          </a:blip>
          <a:stretch>
            <a:fillRect/>
          </a:stretch>
        </p:blipFill>
        <p:spPr>
          <a:xfrm>
            <a:off x="4870950" y="1361438"/>
            <a:ext cx="4273050" cy="24206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1737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solidFill>
                  <a:srgbClr val="A61C00"/>
                </a:solidFill>
              </a:rPr>
              <a:t>What have we delivered?</a:t>
            </a:r>
            <a:endParaRPr sz="2500">
              <a:solidFill>
                <a:srgbClr val="A61C00"/>
              </a:solidFill>
            </a:endParaRPr>
          </a:p>
        </p:txBody>
      </p:sp>
      <p:sp>
        <p:nvSpPr>
          <p:cNvPr id="70" name="Google Shape;70;p15"/>
          <p:cNvSpPr txBox="1">
            <a:spLocks noGrp="1"/>
          </p:cNvSpPr>
          <p:nvPr>
            <p:ph type="body" idx="1"/>
          </p:nvPr>
        </p:nvSpPr>
        <p:spPr>
          <a:xfrm>
            <a:off x="311700" y="807025"/>
            <a:ext cx="8520600" cy="4065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graphicFrame>
        <p:nvGraphicFramePr>
          <p:cNvPr id="71" name="Google Shape;71;p15"/>
          <p:cNvGraphicFramePr/>
          <p:nvPr/>
        </p:nvGraphicFramePr>
        <p:xfrm>
          <a:off x="873350" y="948975"/>
          <a:ext cx="7318150" cy="3870160"/>
        </p:xfrm>
        <a:graphic>
          <a:graphicData uri="http://schemas.openxmlformats.org/drawingml/2006/table">
            <a:tbl>
              <a:tblPr>
                <a:noFill/>
                <a:tableStyleId>{7633A653-533B-4F50-8FD6-5E479F76AB2F}</a:tableStyleId>
              </a:tblPr>
              <a:tblGrid>
                <a:gridCol w="3659075">
                  <a:extLst>
                    <a:ext uri="{9D8B030D-6E8A-4147-A177-3AD203B41FA5}">
                      <a16:colId xmlns:a16="http://schemas.microsoft.com/office/drawing/2014/main" val="20000"/>
                    </a:ext>
                  </a:extLst>
                </a:gridCol>
                <a:gridCol w="3659075">
                  <a:extLst>
                    <a:ext uri="{9D8B030D-6E8A-4147-A177-3AD203B41FA5}">
                      <a16:colId xmlns:a16="http://schemas.microsoft.com/office/drawing/2014/main" val="20001"/>
                    </a:ext>
                  </a:extLst>
                </a:gridCol>
              </a:tblGrid>
              <a:tr h="834425">
                <a:tc>
                  <a:txBody>
                    <a:bodyPr/>
                    <a:lstStyle/>
                    <a:p>
                      <a:pPr marL="0" lvl="0" indent="0" algn="ctr" rtl="0">
                        <a:spcBef>
                          <a:spcPts val="0"/>
                        </a:spcBef>
                        <a:spcAft>
                          <a:spcPts val="0"/>
                        </a:spcAft>
                        <a:buNone/>
                      </a:pPr>
                      <a:r>
                        <a:rPr lang="en" sz="1800" b="1"/>
                        <a:t>Tutorial Site</a:t>
                      </a:r>
                      <a:endParaRPr sz="1800" b="1"/>
                    </a:p>
                  </a:txBody>
                  <a:tcPr marL="91425" marR="91425" marT="91425" marB="91425"/>
                </a:tc>
                <a:tc>
                  <a:txBody>
                    <a:bodyPr/>
                    <a:lstStyle/>
                    <a:p>
                      <a:pPr marL="0" lvl="0" indent="0" algn="ctr" rtl="0">
                        <a:spcBef>
                          <a:spcPts val="0"/>
                        </a:spcBef>
                        <a:spcAft>
                          <a:spcPts val="0"/>
                        </a:spcAft>
                        <a:buNone/>
                      </a:pPr>
                      <a:r>
                        <a:rPr lang="en" sz="1800" b="1"/>
                        <a:t>Demo Application</a:t>
                      </a:r>
                      <a:endParaRPr sz="1800" b="1"/>
                    </a:p>
                  </a:txBody>
                  <a:tcPr marL="91425" marR="91425" marT="91425" marB="91425"/>
                </a:tc>
                <a:extLst>
                  <a:ext uri="{0D108BD9-81ED-4DB2-BD59-A6C34878D82A}">
                    <a16:rowId xmlns:a16="http://schemas.microsoft.com/office/drawing/2014/main" val="10000"/>
                  </a:ext>
                </a:extLst>
              </a:tr>
              <a:tr h="1043100">
                <a:tc>
                  <a:txBody>
                    <a:bodyPr/>
                    <a:lstStyle/>
                    <a:p>
                      <a:pPr marL="0" lvl="0" indent="0" algn="ctr" rtl="0">
                        <a:spcBef>
                          <a:spcPts val="0"/>
                        </a:spcBef>
                        <a:spcAft>
                          <a:spcPts val="0"/>
                        </a:spcAft>
                        <a:buClr>
                          <a:schemeClr val="dk1"/>
                        </a:buClr>
                        <a:buSzPts val="1100"/>
                        <a:buFont typeface="Arial"/>
                        <a:buNone/>
                      </a:pPr>
                      <a:r>
                        <a:rPr lang="en" sz="1600" b="1">
                          <a:solidFill>
                            <a:schemeClr val="dk1"/>
                          </a:solidFill>
                        </a:rPr>
                        <a:t>Module 1:</a:t>
                      </a:r>
                      <a:r>
                        <a:rPr lang="en" sz="1600">
                          <a:solidFill>
                            <a:schemeClr val="dk1"/>
                          </a:solidFill>
                        </a:rPr>
                        <a:t> Concept, History and Motivation on WebSockets and WebRTC</a:t>
                      </a:r>
                      <a:endParaRPr sz="1600">
                        <a:solidFill>
                          <a:schemeClr val="dk1"/>
                        </a:solidFill>
                      </a:endParaRPr>
                    </a:p>
                    <a:p>
                      <a:pPr marL="0" lvl="0" indent="0" algn="ctr" rtl="0">
                        <a:spcBef>
                          <a:spcPts val="0"/>
                        </a:spcBef>
                        <a:spcAft>
                          <a:spcPts val="0"/>
                        </a:spcAft>
                        <a:buNone/>
                      </a:pPr>
                      <a:endParaRPr sz="1600"/>
                    </a:p>
                  </a:txBody>
                  <a:tcPr marL="91425" marR="91425" marT="91425" marB="91425"/>
                </a:tc>
                <a:tc>
                  <a:txBody>
                    <a:bodyPr/>
                    <a:lstStyle/>
                    <a:p>
                      <a:pPr marL="0" lvl="0" indent="0" algn="ctr" rtl="0">
                        <a:spcBef>
                          <a:spcPts val="0"/>
                        </a:spcBef>
                        <a:spcAft>
                          <a:spcPts val="0"/>
                        </a:spcAft>
                        <a:buNone/>
                      </a:pPr>
                      <a:r>
                        <a:rPr lang="en" sz="1600" b="1">
                          <a:solidFill>
                            <a:schemeClr val="dk1"/>
                          </a:solidFill>
                        </a:rPr>
                        <a:t>Dev Branch:</a:t>
                      </a:r>
                      <a:r>
                        <a:rPr lang="en" sz="1600">
                          <a:solidFill>
                            <a:schemeClr val="dk1"/>
                          </a:solidFill>
                        </a:rPr>
                        <a:t> Full implementation of WebSockets + WebRTC application</a:t>
                      </a:r>
                      <a:endParaRPr sz="1600">
                        <a:solidFill>
                          <a:schemeClr val="dk1"/>
                        </a:solidFill>
                      </a:endParaRPr>
                    </a:p>
                  </a:txBody>
                  <a:tcPr marL="91425" marR="91425" marT="91425" marB="91425"/>
                </a:tc>
                <a:extLst>
                  <a:ext uri="{0D108BD9-81ED-4DB2-BD59-A6C34878D82A}">
                    <a16:rowId xmlns:a16="http://schemas.microsoft.com/office/drawing/2014/main" val="10001"/>
                  </a:ext>
                </a:extLst>
              </a:tr>
              <a:tr h="834425">
                <a:tc>
                  <a:txBody>
                    <a:bodyPr/>
                    <a:lstStyle/>
                    <a:p>
                      <a:pPr marL="0" lvl="0" indent="0" algn="ctr" rtl="0">
                        <a:spcBef>
                          <a:spcPts val="0"/>
                        </a:spcBef>
                        <a:spcAft>
                          <a:spcPts val="0"/>
                        </a:spcAft>
                        <a:buClr>
                          <a:schemeClr val="dk1"/>
                        </a:buClr>
                        <a:buSzPts val="1100"/>
                        <a:buFont typeface="Arial"/>
                        <a:buNone/>
                      </a:pPr>
                      <a:r>
                        <a:rPr lang="en" sz="1600" b="1">
                          <a:solidFill>
                            <a:schemeClr val="dk1"/>
                          </a:solidFill>
                        </a:rPr>
                        <a:t>Module 2:</a:t>
                      </a:r>
                      <a:r>
                        <a:rPr lang="en" sz="1600">
                          <a:solidFill>
                            <a:schemeClr val="dk1"/>
                          </a:solidFill>
                        </a:rPr>
                        <a:t> Technology understanding and views on the current standards</a:t>
                      </a:r>
                      <a:endParaRPr sz="1600"/>
                    </a:p>
                  </a:txBody>
                  <a:tcPr marL="91425" marR="91425" marT="91425" marB="91425"/>
                </a:tc>
                <a:tc>
                  <a:txBody>
                    <a:bodyPr/>
                    <a:lstStyle/>
                    <a:p>
                      <a:pPr marL="0" lvl="0" indent="0" algn="ctr" rtl="0">
                        <a:spcBef>
                          <a:spcPts val="0"/>
                        </a:spcBef>
                        <a:spcAft>
                          <a:spcPts val="0"/>
                        </a:spcAft>
                        <a:buNone/>
                      </a:pPr>
                      <a:r>
                        <a:rPr lang="en" sz="1600" b="1">
                          <a:solidFill>
                            <a:schemeClr val="dk1"/>
                          </a:solidFill>
                        </a:rPr>
                        <a:t>Starter Branch:</a:t>
                      </a:r>
                      <a:r>
                        <a:rPr lang="en" sz="1600">
                          <a:solidFill>
                            <a:schemeClr val="dk1"/>
                          </a:solidFill>
                        </a:rPr>
                        <a:t> Includes UI with TODOs aligned to Module 3 steps</a:t>
                      </a:r>
                      <a:endParaRPr sz="1600">
                        <a:solidFill>
                          <a:schemeClr val="dk1"/>
                        </a:solidFill>
                      </a:endParaRPr>
                    </a:p>
                  </a:txBody>
                  <a:tcPr marL="91425" marR="91425" marT="91425" marB="91425"/>
                </a:tc>
                <a:extLst>
                  <a:ext uri="{0D108BD9-81ED-4DB2-BD59-A6C34878D82A}">
                    <a16:rowId xmlns:a16="http://schemas.microsoft.com/office/drawing/2014/main" val="10002"/>
                  </a:ext>
                </a:extLst>
              </a:tr>
              <a:tr h="1043100">
                <a:tc>
                  <a:txBody>
                    <a:bodyPr/>
                    <a:lstStyle/>
                    <a:p>
                      <a:pPr marL="0" lvl="0" indent="0" algn="ctr" rtl="0">
                        <a:spcBef>
                          <a:spcPts val="0"/>
                        </a:spcBef>
                        <a:spcAft>
                          <a:spcPts val="0"/>
                        </a:spcAft>
                        <a:buClr>
                          <a:schemeClr val="dk1"/>
                        </a:buClr>
                        <a:buSzPts val="1100"/>
                        <a:buFont typeface="Arial"/>
                        <a:buNone/>
                      </a:pPr>
                      <a:r>
                        <a:rPr lang="en" sz="1600" b="1">
                          <a:solidFill>
                            <a:schemeClr val="dk1"/>
                          </a:solidFill>
                        </a:rPr>
                        <a:t>Module 3:</a:t>
                      </a:r>
                      <a:r>
                        <a:rPr lang="en" sz="1600">
                          <a:solidFill>
                            <a:schemeClr val="dk1"/>
                          </a:solidFill>
                        </a:rPr>
                        <a:t> Hands-on "Real Time Study Rooms" building</a:t>
                      </a:r>
                      <a:endParaRPr sz="1600">
                        <a:solidFill>
                          <a:schemeClr val="dk1"/>
                        </a:solidFill>
                      </a:endParaRPr>
                    </a:p>
                    <a:p>
                      <a:pPr marL="0" lvl="0" indent="0" algn="ctr" rtl="0">
                        <a:spcBef>
                          <a:spcPts val="0"/>
                        </a:spcBef>
                        <a:spcAft>
                          <a:spcPts val="0"/>
                        </a:spcAft>
                        <a:buNone/>
                      </a:pPr>
                      <a:endParaRPr sz="1600"/>
                    </a:p>
                  </a:txBody>
                  <a:tcPr marL="91425" marR="91425" marT="91425" marB="91425"/>
                </a:tc>
                <a:tc>
                  <a:txBody>
                    <a:bodyPr/>
                    <a:lstStyle/>
                    <a:p>
                      <a:pPr marL="0" lvl="0" indent="0" algn="ctr" rtl="0">
                        <a:spcBef>
                          <a:spcPts val="0"/>
                        </a:spcBef>
                        <a:spcAft>
                          <a:spcPts val="0"/>
                        </a:spcAft>
                        <a:buNone/>
                      </a:pPr>
                      <a:endParaRPr sz="160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9457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None/>
            </a:pPr>
            <a:r>
              <a:rPr lang="en" sz="2500">
                <a:solidFill>
                  <a:srgbClr val="A61C00"/>
                </a:solidFill>
              </a:rPr>
              <a:t>Learning Outcomes and Traceability</a:t>
            </a:r>
            <a:endParaRPr sz="2500">
              <a:solidFill>
                <a:srgbClr val="A61C00"/>
              </a:solidFill>
            </a:endParaRPr>
          </a:p>
        </p:txBody>
      </p:sp>
      <p:sp>
        <p:nvSpPr>
          <p:cNvPr id="77" name="Google Shape;77;p16"/>
          <p:cNvSpPr txBox="1">
            <a:spLocks noGrp="1"/>
          </p:cNvSpPr>
          <p:nvPr>
            <p:ph type="body" idx="1"/>
          </p:nvPr>
        </p:nvSpPr>
        <p:spPr>
          <a:xfrm>
            <a:off x="311700" y="779450"/>
            <a:ext cx="8520600" cy="4137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solidFill>
                <a:schemeClr val="dk1"/>
              </a:solidFill>
            </a:endParaRPr>
          </a:p>
        </p:txBody>
      </p:sp>
      <p:graphicFrame>
        <p:nvGraphicFramePr>
          <p:cNvPr id="78" name="Google Shape;78;p16"/>
          <p:cNvGraphicFramePr/>
          <p:nvPr/>
        </p:nvGraphicFramePr>
        <p:xfrm>
          <a:off x="432500" y="729900"/>
          <a:ext cx="3000000" cy="3000000"/>
        </p:xfrm>
        <a:graphic>
          <a:graphicData uri="http://schemas.openxmlformats.org/drawingml/2006/table">
            <a:tbl>
              <a:tblPr>
                <a:noFill/>
                <a:tableStyleId>{7633A653-533B-4F50-8FD6-5E479F76AB2F}</a:tableStyleId>
              </a:tblPr>
              <a:tblGrid>
                <a:gridCol w="4088650">
                  <a:extLst>
                    <a:ext uri="{9D8B030D-6E8A-4147-A177-3AD203B41FA5}">
                      <a16:colId xmlns:a16="http://schemas.microsoft.com/office/drawing/2014/main" val="20000"/>
                    </a:ext>
                  </a:extLst>
                </a:gridCol>
                <a:gridCol w="4088650">
                  <a:extLst>
                    <a:ext uri="{9D8B030D-6E8A-4147-A177-3AD203B41FA5}">
                      <a16:colId xmlns:a16="http://schemas.microsoft.com/office/drawing/2014/main" val="20001"/>
                    </a:ext>
                  </a:extLst>
                </a:gridCol>
              </a:tblGrid>
              <a:tr h="417100">
                <a:tc>
                  <a:txBody>
                    <a:bodyPr/>
                    <a:lstStyle/>
                    <a:p>
                      <a:pPr marL="0" lvl="0" indent="0" algn="ctr" rtl="0">
                        <a:spcBef>
                          <a:spcPts val="0"/>
                        </a:spcBef>
                        <a:spcAft>
                          <a:spcPts val="0"/>
                        </a:spcAft>
                        <a:buNone/>
                      </a:pPr>
                      <a:r>
                        <a:rPr lang="en" sz="1800" b="1"/>
                        <a:t>Core Outcomes</a:t>
                      </a:r>
                      <a:endParaRPr sz="1800" b="1"/>
                    </a:p>
                  </a:txBody>
                  <a:tcPr marL="91425" marR="91425" marT="91425" marB="91425"/>
                </a:tc>
                <a:tc>
                  <a:txBody>
                    <a:bodyPr/>
                    <a:lstStyle/>
                    <a:p>
                      <a:pPr marL="0" lvl="0" indent="0" algn="ctr" rtl="0">
                        <a:spcBef>
                          <a:spcPts val="0"/>
                        </a:spcBef>
                        <a:spcAft>
                          <a:spcPts val="0"/>
                        </a:spcAft>
                        <a:buNone/>
                      </a:pPr>
                      <a:r>
                        <a:rPr lang="en" sz="1800" b="1"/>
                        <a:t>Traceability</a:t>
                      </a:r>
                      <a:endParaRPr sz="1800" b="1"/>
                    </a:p>
                  </a:txBody>
                  <a:tcPr marL="91425" marR="91425" marT="91425" marB="91425"/>
                </a:tc>
                <a:extLst>
                  <a:ext uri="{0D108BD9-81ED-4DB2-BD59-A6C34878D82A}">
                    <a16:rowId xmlns:a16="http://schemas.microsoft.com/office/drawing/2014/main" val="10000"/>
                  </a:ext>
                </a:extLst>
              </a:tr>
              <a:tr h="417100">
                <a:tc>
                  <a:txBody>
                    <a:bodyPr/>
                    <a:lstStyle/>
                    <a:p>
                      <a:pPr marL="0" lvl="0" indent="0" algn="ctr" rtl="0">
                        <a:spcBef>
                          <a:spcPts val="0"/>
                        </a:spcBef>
                        <a:spcAft>
                          <a:spcPts val="0"/>
                        </a:spcAft>
                        <a:buNone/>
                      </a:pPr>
                      <a:r>
                        <a:rPr lang="en" sz="1200" b="1">
                          <a:solidFill>
                            <a:schemeClr val="dk1"/>
                          </a:solidFill>
                        </a:rPr>
                        <a:t>Explain</a:t>
                      </a:r>
                      <a:r>
                        <a:rPr lang="en" sz="1200">
                          <a:solidFill>
                            <a:schemeClr val="dk1"/>
                          </a:solidFill>
                        </a:rPr>
                        <a:t> when to use WebSockets vs. HTTP</a:t>
                      </a:r>
                      <a:endParaRPr sz="1200"/>
                    </a:p>
                  </a:txBody>
                  <a:tcPr marL="91425" marR="91425" marT="91425" marB="91425" anchor="ctr"/>
                </a:tc>
                <a:tc rowSpan="2">
                  <a:txBody>
                    <a:bodyPr/>
                    <a:lstStyle/>
                    <a:p>
                      <a:pPr marL="0" lvl="0" indent="0" algn="ctr" rtl="0">
                        <a:spcBef>
                          <a:spcPts val="0"/>
                        </a:spcBef>
                        <a:spcAft>
                          <a:spcPts val="0"/>
                        </a:spcAft>
                        <a:buNone/>
                      </a:pPr>
                      <a:r>
                        <a:rPr lang="en" sz="1200"/>
                        <a:t>Module 1 &amp; 2</a:t>
                      </a:r>
                      <a:endParaRPr sz="1200"/>
                    </a:p>
                  </a:txBody>
                  <a:tcPr marL="91425" marR="91425" marT="91425" marB="91425" anchor="ctr"/>
                </a:tc>
                <a:extLst>
                  <a:ext uri="{0D108BD9-81ED-4DB2-BD59-A6C34878D82A}">
                    <a16:rowId xmlns:a16="http://schemas.microsoft.com/office/drawing/2014/main" val="10001"/>
                  </a:ext>
                </a:extLst>
              </a:tr>
              <a:tr h="656325">
                <a:tc>
                  <a:txBody>
                    <a:bodyPr/>
                    <a:lstStyle/>
                    <a:p>
                      <a:pPr marL="0" lvl="0" indent="0" algn="ctr" rtl="0">
                        <a:spcBef>
                          <a:spcPts val="0"/>
                        </a:spcBef>
                        <a:spcAft>
                          <a:spcPts val="0"/>
                        </a:spcAft>
                        <a:buClr>
                          <a:schemeClr val="dk1"/>
                        </a:buClr>
                        <a:buSzPts val="1100"/>
                        <a:buFont typeface="Arial"/>
                        <a:buNone/>
                      </a:pPr>
                      <a:r>
                        <a:rPr lang="en" sz="1200" b="1">
                          <a:solidFill>
                            <a:schemeClr val="dk1"/>
                          </a:solidFill>
                        </a:rPr>
                        <a:t>Describe</a:t>
                      </a:r>
                      <a:r>
                        <a:rPr lang="en" sz="1200">
                          <a:solidFill>
                            <a:schemeClr val="dk1"/>
                          </a:solidFill>
                        </a:rPr>
                        <a:t> WebRTC signaling and ICE/STUN/TURN architecture.</a:t>
                      </a:r>
                      <a:endParaRPr sz="1200">
                        <a:solidFill>
                          <a:schemeClr val="dk1"/>
                        </a:solidFill>
                      </a:endParaRPr>
                    </a:p>
                    <a:p>
                      <a:pPr marL="0" lvl="0" indent="0" algn="ctr" rtl="0">
                        <a:spcBef>
                          <a:spcPts val="0"/>
                        </a:spcBef>
                        <a:spcAft>
                          <a:spcPts val="0"/>
                        </a:spcAft>
                        <a:buNone/>
                      </a:pPr>
                      <a:endParaRPr sz="1200"/>
                    </a:p>
                  </a:txBody>
                  <a:tcPr marL="91425" marR="91425" marT="91425" marB="91425" anchor="ctr"/>
                </a:tc>
                <a:tc vMerge="1">
                  <a:txBody>
                    <a:bodyPr/>
                    <a:lstStyle/>
                    <a:p>
                      <a:endParaRPr lang="en-US"/>
                    </a:p>
                  </a:txBody>
                  <a:tcPr/>
                </a:tc>
                <a:extLst>
                  <a:ext uri="{0D108BD9-81ED-4DB2-BD59-A6C34878D82A}">
                    <a16:rowId xmlns:a16="http://schemas.microsoft.com/office/drawing/2014/main" val="10002"/>
                  </a:ext>
                </a:extLst>
              </a:tr>
              <a:tr h="656325">
                <a:tc>
                  <a:txBody>
                    <a:bodyPr/>
                    <a:lstStyle/>
                    <a:p>
                      <a:pPr marL="0" lvl="0" indent="0" algn="ctr" rtl="0">
                        <a:spcBef>
                          <a:spcPts val="0"/>
                        </a:spcBef>
                        <a:spcAft>
                          <a:spcPts val="0"/>
                        </a:spcAft>
                        <a:buClr>
                          <a:schemeClr val="dk1"/>
                        </a:buClr>
                        <a:buSzPts val="1100"/>
                        <a:buFont typeface="Arial"/>
                        <a:buNone/>
                      </a:pPr>
                      <a:r>
                        <a:rPr lang="en" sz="1200" b="1">
                          <a:solidFill>
                            <a:schemeClr val="dk1"/>
                          </a:solidFill>
                        </a:rPr>
                        <a:t>Implement</a:t>
                      </a:r>
                      <a:r>
                        <a:rPr lang="en" sz="1200">
                          <a:solidFill>
                            <a:schemeClr val="dk1"/>
                          </a:solidFill>
                        </a:rPr>
                        <a:t> realtime lobby, chat, and presence (WebSockets).</a:t>
                      </a:r>
                      <a:endParaRPr sz="1200">
                        <a:solidFill>
                          <a:schemeClr val="dk1"/>
                        </a:solidFill>
                      </a:endParaRPr>
                    </a:p>
                    <a:p>
                      <a:pPr marL="0" lvl="0" indent="0" algn="ctr" rtl="0">
                        <a:spcBef>
                          <a:spcPts val="0"/>
                        </a:spcBef>
                        <a:spcAft>
                          <a:spcPts val="0"/>
                        </a:spcAft>
                        <a:buNone/>
                      </a:pPr>
                      <a:endParaRPr sz="1200"/>
                    </a:p>
                  </a:txBody>
                  <a:tcPr marL="91425" marR="91425" marT="91425" marB="91425" anchor="ctr"/>
                </a:tc>
                <a:tc rowSpan="3">
                  <a:txBody>
                    <a:bodyPr/>
                    <a:lstStyle/>
                    <a:p>
                      <a:pPr marL="0" lvl="0" indent="0" algn="ctr" rtl="0">
                        <a:spcBef>
                          <a:spcPts val="0"/>
                        </a:spcBef>
                        <a:spcAft>
                          <a:spcPts val="0"/>
                        </a:spcAft>
                        <a:buNone/>
                      </a:pPr>
                      <a:r>
                        <a:rPr lang="en" sz="1200"/>
                        <a:t>Module 3 - The build section</a:t>
                      </a:r>
                      <a:endParaRPr sz="1200"/>
                    </a:p>
                  </a:txBody>
                  <a:tcPr marL="91425" marR="91425" marT="91425" marB="91425" anchor="ctr"/>
                </a:tc>
                <a:extLst>
                  <a:ext uri="{0D108BD9-81ED-4DB2-BD59-A6C34878D82A}">
                    <a16:rowId xmlns:a16="http://schemas.microsoft.com/office/drawing/2014/main" val="10003"/>
                  </a:ext>
                </a:extLst>
              </a:tr>
              <a:tr h="656325">
                <a:tc>
                  <a:txBody>
                    <a:bodyPr/>
                    <a:lstStyle/>
                    <a:p>
                      <a:pPr marL="0" lvl="0" indent="0" algn="ctr" rtl="0">
                        <a:spcBef>
                          <a:spcPts val="0"/>
                        </a:spcBef>
                        <a:spcAft>
                          <a:spcPts val="0"/>
                        </a:spcAft>
                        <a:buClr>
                          <a:schemeClr val="dk1"/>
                        </a:buClr>
                        <a:buSzPts val="1100"/>
                        <a:buFont typeface="Arial"/>
                        <a:buNone/>
                      </a:pPr>
                      <a:r>
                        <a:rPr lang="en" sz="1200" b="1">
                          <a:solidFill>
                            <a:schemeClr val="dk1"/>
                          </a:solidFill>
                        </a:rPr>
                        <a:t>Implement</a:t>
                      </a:r>
                      <a:r>
                        <a:rPr lang="en" sz="1200">
                          <a:solidFill>
                            <a:schemeClr val="dk1"/>
                          </a:solidFill>
                        </a:rPr>
                        <a:t> lightweight signals (typing indicators, reactions).</a:t>
                      </a:r>
                      <a:endParaRPr sz="1200">
                        <a:solidFill>
                          <a:schemeClr val="dk1"/>
                        </a:solidFill>
                      </a:endParaRPr>
                    </a:p>
                    <a:p>
                      <a:pPr marL="0" lvl="0" indent="0" algn="ctr" rtl="0">
                        <a:spcBef>
                          <a:spcPts val="0"/>
                        </a:spcBef>
                        <a:spcAft>
                          <a:spcPts val="0"/>
                        </a:spcAft>
                        <a:buNone/>
                      </a:pPr>
                      <a:endParaRPr sz="1200"/>
                    </a:p>
                  </a:txBody>
                  <a:tcPr marL="91425" marR="91425" marT="91425" marB="91425" anchor="ctr"/>
                </a:tc>
                <a:tc vMerge="1">
                  <a:txBody>
                    <a:bodyPr/>
                    <a:lstStyle/>
                    <a:p>
                      <a:endParaRPr lang="en-US"/>
                    </a:p>
                  </a:txBody>
                  <a:tcPr/>
                </a:tc>
                <a:extLst>
                  <a:ext uri="{0D108BD9-81ED-4DB2-BD59-A6C34878D82A}">
                    <a16:rowId xmlns:a16="http://schemas.microsoft.com/office/drawing/2014/main" val="10004"/>
                  </a:ext>
                </a:extLst>
              </a:tr>
              <a:tr h="492225">
                <a:tc>
                  <a:txBody>
                    <a:bodyPr/>
                    <a:lstStyle/>
                    <a:p>
                      <a:pPr marL="0" lvl="0" indent="0" algn="ctr" rtl="0">
                        <a:spcBef>
                          <a:spcPts val="0"/>
                        </a:spcBef>
                        <a:spcAft>
                          <a:spcPts val="0"/>
                        </a:spcAft>
                        <a:buClr>
                          <a:schemeClr val="dk1"/>
                        </a:buClr>
                        <a:buSzPts val="1100"/>
                        <a:buFont typeface="Arial"/>
                        <a:buNone/>
                      </a:pPr>
                      <a:r>
                        <a:rPr lang="en" sz="1200" b="1">
                          <a:solidFill>
                            <a:schemeClr val="dk1"/>
                          </a:solidFill>
                        </a:rPr>
                        <a:t>Build</a:t>
                      </a:r>
                      <a:r>
                        <a:rPr lang="en" sz="1200">
                          <a:solidFill>
                            <a:schemeClr val="dk1"/>
                          </a:solidFill>
                        </a:rPr>
                        <a:t> a group video call (WebRTC).</a:t>
                      </a:r>
                      <a:endParaRPr sz="1200">
                        <a:solidFill>
                          <a:schemeClr val="dk1"/>
                        </a:solidFill>
                      </a:endParaRPr>
                    </a:p>
                    <a:p>
                      <a:pPr marL="0" lvl="0" indent="0" algn="ctr" rtl="0">
                        <a:spcBef>
                          <a:spcPts val="0"/>
                        </a:spcBef>
                        <a:spcAft>
                          <a:spcPts val="0"/>
                        </a:spcAft>
                        <a:buNone/>
                      </a:pPr>
                      <a:endParaRPr sz="1200"/>
                    </a:p>
                  </a:txBody>
                  <a:tcPr marL="91425" marR="91425" marT="91425" marB="91425" anchor="ctr"/>
                </a:tc>
                <a:tc vMerge="1">
                  <a:txBody>
                    <a:bodyPr/>
                    <a:lstStyle/>
                    <a:p>
                      <a:endParaRPr lang="en-US"/>
                    </a:p>
                  </a:txBody>
                  <a:tcPr/>
                </a:tc>
                <a:extLst>
                  <a:ext uri="{0D108BD9-81ED-4DB2-BD59-A6C34878D82A}">
                    <a16:rowId xmlns:a16="http://schemas.microsoft.com/office/drawing/2014/main" val="10005"/>
                  </a:ext>
                </a:extLst>
              </a:tr>
              <a:tr h="653575">
                <a:tc>
                  <a:txBody>
                    <a:bodyPr/>
                    <a:lstStyle/>
                    <a:p>
                      <a:pPr marL="457200" lvl="0" indent="0" algn="l" rtl="0">
                        <a:lnSpc>
                          <a:spcPct val="115000"/>
                        </a:lnSpc>
                        <a:spcBef>
                          <a:spcPts val="1200"/>
                        </a:spcBef>
                        <a:spcAft>
                          <a:spcPts val="0"/>
                        </a:spcAft>
                        <a:buNone/>
                      </a:pPr>
                      <a:r>
                        <a:rPr lang="en" sz="1200" b="1">
                          <a:solidFill>
                            <a:schemeClr val="dk1"/>
                          </a:solidFill>
                        </a:rPr>
                        <a:t>Evaluate</a:t>
                      </a:r>
                      <a:r>
                        <a:rPr lang="en" sz="1200">
                          <a:solidFill>
                            <a:schemeClr val="dk1"/>
                          </a:solidFill>
                        </a:rPr>
                        <a:t> the tradeoffs of stateful connections.</a:t>
                      </a:r>
                      <a:endParaRPr sz="1200">
                        <a:solidFill>
                          <a:schemeClr val="dk1"/>
                        </a:solidFill>
                      </a:endParaRPr>
                    </a:p>
                    <a:p>
                      <a:pPr marL="0" lvl="0" indent="0" algn="ctr" rtl="0">
                        <a:spcBef>
                          <a:spcPts val="1200"/>
                        </a:spcBef>
                        <a:spcAft>
                          <a:spcPts val="0"/>
                        </a:spcAft>
                        <a:buNone/>
                      </a:pPr>
                      <a:endParaRPr sz="1200"/>
                    </a:p>
                  </a:txBody>
                  <a:tcPr marL="91425" marR="91425" marT="91425" marB="91425" anchor="ctr"/>
                </a:tc>
                <a:tc>
                  <a:txBody>
                    <a:bodyPr/>
                    <a:lstStyle/>
                    <a:p>
                      <a:pPr marL="0" lvl="0" indent="0" algn="ctr" rtl="0">
                        <a:spcBef>
                          <a:spcPts val="0"/>
                        </a:spcBef>
                        <a:spcAft>
                          <a:spcPts val="0"/>
                        </a:spcAft>
                        <a:buNone/>
                      </a:pPr>
                      <a:r>
                        <a:rPr lang="en" sz="1200"/>
                        <a:t>Module 2 - Analytical Section</a:t>
                      </a:r>
                      <a:endParaRPr sz="1200"/>
                    </a:p>
                  </a:txBody>
                  <a:tcPr marL="91425" marR="91425" marT="91425" marB="91425"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16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A61C00"/>
                </a:solidFill>
              </a:rPr>
              <a:t>Background: History &amp; Standards</a:t>
            </a:r>
            <a:endParaRPr>
              <a:solidFill>
                <a:srgbClr val="A61C00"/>
              </a:solidFill>
            </a:endParaRPr>
          </a:p>
        </p:txBody>
      </p:sp>
      <p:sp>
        <p:nvSpPr>
          <p:cNvPr id="84" name="Google Shape;84;p17"/>
          <p:cNvSpPr txBox="1">
            <a:spLocks noGrp="1"/>
          </p:cNvSpPr>
          <p:nvPr>
            <p:ph type="body" idx="1"/>
          </p:nvPr>
        </p:nvSpPr>
        <p:spPr>
          <a:xfrm>
            <a:off x="311700" y="863550"/>
            <a:ext cx="8520600" cy="3986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b="1">
                <a:solidFill>
                  <a:schemeClr val="dk1"/>
                </a:solidFill>
              </a:rPr>
              <a:t>WebSockets (RFC 6455):</a:t>
            </a:r>
            <a:endParaRPr b="1">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Standardized to replace polling hacks.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Provides a full-duplex TCP connection over a single HTTP upgrade.</a:t>
            </a:r>
            <a:endParaRPr>
              <a:solidFill>
                <a:schemeClr val="dk1"/>
              </a:solidFill>
            </a:endParaRPr>
          </a:p>
          <a:p>
            <a:pPr marL="457200" lvl="0" indent="0" algn="l" rtl="0">
              <a:spcBef>
                <a:spcPts val="1200"/>
              </a:spcBef>
              <a:spcAft>
                <a:spcPts val="0"/>
              </a:spcAft>
              <a:buNone/>
            </a:pPr>
            <a:endParaRPr>
              <a:solidFill>
                <a:schemeClr val="dk1"/>
              </a:solidFill>
            </a:endParaRPr>
          </a:p>
          <a:p>
            <a:pPr marL="0" lvl="0" indent="0" algn="l" rtl="0">
              <a:spcBef>
                <a:spcPts val="1200"/>
              </a:spcBef>
              <a:spcAft>
                <a:spcPts val="0"/>
              </a:spcAft>
              <a:buClr>
                <a:schemeClr val="dk1"/>
              </a:buClr>
              <a:buSzPts val="1100"/>
              <a:buFont typeface="Arial"/>
              <a:buNone/>
            </a:pPr>
            <a:r>
              <a:rPr lang="en" b="1">
                <a:solidFill>
                  <a:schemeClr val="dk1"/>
                </a:solidFill>
              </a:rPr>
              <a:t>WebRTC (W3C + IETF):</a:t>
            </a:r>
            <a:endParaRPr b="1">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Joint effort for plugin-free browser media.</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ICE/STUN/TURN:</a:t>
            </a:r>
            <a:r>
              <a:rPr lang="en">
                <a:solidFill>
                  <a:schemeClr val="dk1"/>
                </a:solidFill>
              </a:rPr>
              <a:t> Standards for NAT traversal and connectivity.</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Signaling:</a:t>
            </a:r>
            <a:r>
              <a:rPr lang="en">
                <a:solidFill>
                  <a:schemeClr val="dk1"/>
                </a:solidFill>
              </a:rPr>
              <a:t> Intentionally left undefined (we use WebSockets).</a:t>
            </a:r>
            <a:endParaRPr>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8" title="Screenshot 2025-12-08 at 19.03.32.png"/>
          <p:cNvPicPr preferRelativeResize="0"/>
          <p:nvPr/>
        </p:nvPicPr>
        <p:blipFill rotWithShape="1">
          <a:blip r:embed="rId3">
            <a:alphaModFix/>
          </a:blip>
          <a:srcRect b="2296"/>
          <a:stretch/>
        </p:blipFill>
        <p:spPr>
          <a:xfrm>
            <a:off x="152400" y="295275"/>
            <a:ext cx="2590800" cy="4552950"/>
          </a:xfrm>
          <a:prstGeom prst="rect">
            <a:avLst/>
          </a:prstGeom>
          <a:noFill/>
          <a:ln>
            <a:noFill/>
          </a:ln>
        </p:spPr>
      </p:pic>
      <p:pic>
        <p:nvPicPr>
          <p:cNvPr id="90" name="Google Shape;90;p18" title="Screenshot 2025-12-08 at 19.04.06.png"/>
          <p:cNvPicPr preferRelativeResize="0"/>
          <p:nvPr/>
        </p:nvPicPr>
        <p:blipFill>
          <a:blip r:embed="rId4">
            <a:alphaModFix/>
          </a:blip>
          <a:stretch>
            <a:fillRect/>
          </a:stretch>
        </p:blipFill>
        <p:spPr>
          <a:xfrm>
            <a:off x="2875925" y="295275"/>
            <a:ext cx="2514600" cy="4552950"/>
          </a:xfrm>
          <a:prstGeom prst="rect">
            <a:avLst/>
          </a:prstGeom>
          <a:noFill/>
          <a:ln>
            <a:noFill/>
          </a:ln>
        </p:spPr>
      </p:pic>
      <p:pic>
        <p:nvPicPr>
          <p:cNvPr id="91" name="Google Shape;91;p18" title="Screenshot 2025-12-08 at 19.06.40.png"/>
          <p:cNvPicPr preferRelativeResize="0"/>
          <p:nvPr/>
        </p:nvPicPr>
        <p:blipFill>
          <a:blip r:embed="rId5">
            <a:alphaModFix/>
          </a:blip>
          <a:stretch>
            <a:fillRect/>
          </a:stretch>
        </p:blipFill>
        <p:spPr>
          <a:xfrm>
            <a:off x="5636300" y="2012175"/>
            <a:ext cx="3407224" cy="1028700"/>
          </a:xfrm>
          <a:prstGeom prst="rect">
            <a:avLst/>
          </a:prstGeom>
          <a:noFill/>
          <a:ln>
            <a:noFill/>
          </a:ln>
        </p:spPr>
      </p:pic>
      <p:sp>
        <p:nvSpPr>
          <p:cNvPr id="92" name="Google Shape;92;p18"/>
          <p:cNvSpPr txBox="1"/>
          <p:nvPr/>
        </p:nvSpPr>
        <p:spPr>
          <a:xfrm>
            <a:off x="5946100" y="3459150"/>
            <a:ext cx="2928000" cy="85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Direct peer-to-peer</a:t>
            </a:r>
            <a:br>
              <a:rPr lang="en" sz="1800">
                <a:solidFill>
                  <a:schemeClr val="dk2"/>
                </a:solidFill>
              </a:rPr>
            </a:br>
            <a:r>
              <a:rPr lang="en" sz="1800">
                <a:solidFill>
                  <a:schemeClr val="dk2"/>
                </a:solidFill>
              </a:rPr>
              <a:t>Standardized in 2017</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1172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A61C00"/>
                </a:solidFill>
              </a:rPr>
              <a:t>Demo Architecture</a:t>
            </a:r>
            <a:endParaRPr>
              <a:solidFill>
                <a:srgbClr val="A61C00"/>
              </a:solidFill>
            </a:endParaRPr>
          </a:p>
        </p:txBody>
      </p:sp>
      <p:sp>
        <p:nvSpPr>
          <p:cNvPr id="98" name="Google Shape;98;p19"/>
          <p:cNvSpPr txBox="1">
            <a:spLocks noGrp="1"/>
          </p:cNvSpPr>
          <p:nvPr>
            <p:ph type="body" idx="1"/>
          </p:nvPr>
        </p:nvSpPr>
        <p:spPr>
          <a:xfrm>
            <a:off x="311700" y="813350"/>
            <a:ext cx="8520600" cy="40815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 b="1">
                <a:solidFill>
                  <a:schemeClr val="dk1"/>
                </a:solidFill>
              </a:rPr>
              <a:t>Backend:</a:t>
            </a:r>
            <a:endParaRPr b="1">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Node.js server using </a:t>
            </a:r>
            <a:r>
              <a:rPr lang="en">
                <a:solidFill>
                  <a:srgbClr val="A61C00"/>
                </a:solidFill>
                <a:latin typeface="Roboto Mono"/>
                <a:ea typeface="Roboto Mono"/>
                <a:cs typeface="Roboto Mono"/>
                <a:sym typeface="Roboto Mono"/>
              </a:rPr>
              <a:t>ws</a:t>
            </a:r>
            <a:r>
              <a:rPr lang="en">
                <a:solidFill>
                  <a:schemeClr val="dk1"/>
                </a:solidFill>
              </a:rPr>
              <a:t> library.</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Single endpoint handles: Lobby state, Chat, Reactions, and </a:t>
            </a:r>
            <a:r>
              <a:rPr lang="en" b="1">
                <a:solidFill>
                  <a:schemeClr val="dk1"/>
                </a:solidFill>
              </a:rPr>
              <a:t>WebRTC Signaling</a:t>
            </a:r>
            <a:r>
              <a:rPr lang="en">
                <a:solidFill>
                  <a:schemeClr val="dk1"/>
                </a:solidFill>
              </a:rPr>
              <a:t>.</a:t>
            </a:r>
            <a:endParaRPr>
              <a:solidFill>
                <a:schemeClr val="dk1"/>
              </a:solidFill>
            </a:endParaRPr>
          </a:p>
          <a:p>
            <a:pPr marL="0" lvl="0" indent="0" algn="l" rtl="0">
              <a:spcBef>
                <a:spcPts val="1200"/>
              </a:spcBef>
              <a:spcAft>
                <a:spcPts val="0"/>
              </a:spcAft>
              <a:buClr>
                <a:schemeClr val="dk1"/>
              </a:buClr>
              <a:buSzPts val="1100"/>
              <a:buFont typeface="Arial"/>
              <a:buNone/>
            </a:pPr>
            <a:r>
              <a:rPr lang="en" b="1">
                <a:solidFill>
                  <a:schemeClr val="dk1"/>
                </a:solidFill>
              </a:rPr>
              <a:t>Frontend:</a:t>
            </a:r>
            <a:endParaRPr b="1">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React Client with </a:t>
            </a:r>
            <a:r>
              <a:rPr lang="en">
                <a:solidFill>
                  <a:srgbClr val="A61C00"/>
                </a:solidFill>
                <a:latin typeface="Roboto Mono"/>
                <a:ea typeface="Roboto Mono"/>
                <a:cs typeface="Roboto Mono"/>
                <a:sym typeface="Roboto Mono"/>
              </a:rPr>
              <a:t>useWebRTC</a:t>
            </a:r>
            <a:r>
              <a:rPr lang="en">
                <a:solidFill>
                  <a:schemeClr val="dk1"/>
                </a:solidFill>
              </a:rPr>
              <a:t> custom hook.</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Manages </a:t>
            </a:r>
            <a:r>
              <a:rPr lang="en">
                <a:solidFill>
                  <a:srgbClr val="A61C00"/>
                </a:solidFill>
                <a:latin typeface="Roboto Mono"/>
                <a:ea typeface="Roboto Mono"/>
                <a:cs typeface="Roboto Mono"/>
                <a:sym typeface="Roboto Mono"/>
              </a:rPr>
              <a:t>RTCPeerConnection</a:t>
            </a:r>
            <a:r>
              <a:rPr lang="en">
                <a:solidFill>
                  <a:schemeClr val="dk1"/>
                </a:solidFill>
              </a:rPr>
              <a:t> and DOM video elements.</a:t>
            </a:r>
            <a:endParaRPr>
              <a:solidFill>
                <a:schemeClr val="dk1"/>
              </a:solidFill>
            </a:endParaRPr>
          </a:p>
          <a:p>
            <a:pPr marL="0" lvl="0" indent="0" algn="l" rtl="0">
              <a:spcBef>
                <a:spcPts val="1200"/>
              </a:spcBef>
              <a:spcAft>
                <a:spcPts val="0"/>
              </a:spcAft>
              <a:buClr>
                <a:schemeClr val="dk1"/>
              </a:buClr>
              <a:buSzPts val="1100"/>
              <a:buFont typeface="Arial"/>
              <a:buNone/>
            </a:pPr>
            <a:r>
              <a:rPr lang="en" b="1">
                <a:solidFill>
                  <a:schemeClr val="dk1"/>
                </a:solidFill>
              </a:rPr>
              <a:t>The Novelty:</a:t>
            </a:r>
            <a:endParaRPr b="1">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Learners build the integration of two distinct protocols (WebSockets + WebRTC).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1624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4" name="Google Shape;104;p20"/>
          <p:cNvSpPr txBox="1">
            <a:spLocks noGrp="1"/>
          </p:cNvSpPr>
          <p:nvPr>
            <p:ph type="body" idx="1"/>
          </p:nvPr>
        </p:nvSpPr>
        <p:spPr>
          <a:xfrm>
            <a:off x="311700" y="863550"/>
            <a:ext cx="8520600" cy="4053900"/>
          </a:xfrm>
          <a:prstGeom prst="rect">
            <a:avLst/>
          </a:prstGeom>
        </p:spPr>
        <p:txBody>
          <a:bodyPr spcFirstLastPara="1" wrap="square" lIns="91425" tIns="91425" rIns="91425" bIns="91425" anchor="ctr" anchorCtr="0">
            <a:normAutofit/>
          </a:bodyPr>
          <a:lstStyle/>
          <a:p>
            <a:pPr marL="0" lvl="0" indent="0" algn="ctr" rtl="0">
              <a:spcBef>
                <a:spcPts val="0"/>
              </a:spcBef>
              <a:spcAft>
                <a:spcPts val="1200"/>
              </a:spcAft>
              <a:buNone/>
            </a:pPr>
            <a:r>
              <a:rPr lang="en" sz="2500"/>
              <a:t>Show live demo of our application</a:t>
            </a:r>
            <a:endParaRPr sz="2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311700" y="128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A61C00"/>
                </a:solidFill>
              </a:rPr>
              <a:t>Phase 1: WebSockets (Steps 0–7)</a:t>
            </a:r>
            <a:endParaRPr>
              <a:solidFill>
                <a:srgbClr val="A61C00"/>
              </a:solidFill>
            </a:endParaRPr>
          </a:p>
        </p:txBody>
      </p:sp>
      <p:sp>
        <p:nvSpPr>
          <p:cNvPr id="110" name="Google Shape;110;p21"/>
          <p:cNvSpPr txBox="1">
            <a:spLocks noGrp="1"/>
          </p:cNvSpPr>
          <p:nvPr>
            <p:ph type="body" idx="1"/>
          </p:nvPr>
        </p:nvSpPr>
        <p:spPr>
          <a:xfrm>
            <a:off x="311700" y="813325"/>
            <a:ext cx="8520600" cy="416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b="1">
                <a:solidFill>
                  <a:schemeClr val="dk1"/>
                </a:solidFill>
              </a:rPr>
              <a:t>Goal:</a:t>
            </a:r>
            <a:r>
              <a:rPr lang="en">
                <a:solidFill>
                  <a:schemeClr val="dk1"/>
                </a:solidFill>
              </a:rPr>
              <a:t> Turn static UI into a realtime app.</a:t>
            </a:r>
            <a:endParaRPr>
              <a:solidFill>
                <a:schemeClr val="dk1"/>
              </a:solidFill>
            </a:endParaRPr>
          </a:p>
          <a:p>
            <a:pPr marL="0" lvl="0" indent="0" algn="l" rtl="0">
              <a:spcBef>
                <a:spcPts val="1200"/>
              </a:spcBef>
              <a:spcAft>
                <a:spcPts val="0"/>
              </a:spcAft>
              <a:buClr>
                <a:schemeClr val="dk1"/>
              </a:buClr>
              <a:buSzPts val="1100"/>
              <a:buFont typeface="Arial"/>
              <a:buNone/>
            </a:pPr>
            <a:br>
              <a:rPr lang="en" b="1">
                <a:solidFill>
                  <a:schemeClr val="dk1"/>
                </a:solidFill>
              </a:rPr>
            </a:br>
            <a:r>
              <a:rPr lang="en" b="1">
                <a:solidFill>
                  <a:schemeClr val="dk1"/>
                </a:solidFill>
              </a:rPr>
              <a:t>Key Activities:</a:t>
            </a:r>
            <a:endParaRPr b="1">
              <a:solidFill>
                <a:schemeClr val="dk1"/>
              </a:solidFill>
            </a:endParaRPr>
          </a:p>
          <a:p>
            <a:pPr marL="457200" lvl="0" indent="-342900" algn="l" rtl="0">
              <a:spcBef>
                <a:spcPts val="1200"/>
              </a:spcBef>
              <a:spcAft>
                <a:spcPts val="0"/>
              </a:spcAft>
              <a:buClr>
                <a:schemeClr val="dk1"/>
              </a:buClr>
              <a:buSzPts val="1800"/>
              <a:buChar char="●"/>
            </a:pPr>
            <a:r>
              <a:rPr lang="en" b="1">
                <a:solidFill>
                  <a:schemeClr val="dk1"/>
                </a:solidFill>
              </a:rPr>
              <a:t>Step 2:</a:t>
            </a:r>
            <a:r>
              <a:rPr lang="en">
                <a:solidFill>
                  <a:schemeClr val="dk1"/>
                </a:solidFill>
              </a:rPr>
              <a:t> Connect &amp; Identify (Client IDs).</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Step 3-4:</a:t>
            </a:r>
            <a:r>
              <a:rPr lang="en">
                <a:solidFill>
                  <a:schemeClr val="dk1"/>
                </a:solidFill>
              </a:rPr>
              <a:t> Realtime Lobby (Room Lists, Create/Join).</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Step 5:</a:t>
            </a:r>
            <a:r>
              <a:rPr lang="en">
                <a:solidFill>
                  <a:schemeClr val="dk1"/>
                </a:solidFill>
              </a:rPr>
              <a:t> Synchronized Chat History.</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Step 7:</a:t>
            </a:r>
            <a:r>
              <a:rPr lang="en">
                <a:solidFill>
                  <a:schemeClr val="dk1"/>
                </a:solidFill>
              </a:rPr>
              <a:t> Lightweight Signals (Typing indicators, Reactions).</a:t>
            </a:r>
            <a:endParaRPr>
              <a:solidFill>
                <a:schemeClr val="dk1"/>
              </a:solidFill>
            </a:endParaRPr>
          </a:p>
          <a:p>
            <a:pPr marL="0" lvl="0" indent="0" algn="l" rtl="0">
              <a:spcBef>
                <a:spcPts val="1200"/>
              </a:spcBef>
              <a:spcAft>
                <a:spcPts val="0"/>
              </a:spcAft>
              <a:buNone/>
            </a:pPr>
            <a:br>
              <a:rPr lang="en" b="1">
                <a:solidFill>
                  <a:schemeClr val="dk1"/>
                </a:solidFill>
              </a:rPr>
            </a:br>
            <a:r>
              <a:rPr lang="en" b="1">
                <a:solidFill>
                  <a:schemeClr val="dk1"/>
                </a:solidFill>
              </a:rPr>
              <a:t>Checkpoint:</a:t>
            </a:r>
            <a:r>
              <a:rPr lang="en">
                <a:solidFill>
                  <a:schemeClr val="dk1"/>
                </a:solidFill>
              </a:rPr>
              <a:t> Two tabs see the same state instantly.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311700" y="128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A61C00"/>
                </a:solidFill>
              </a:rPr>
              <a:t>Phase 2: WebRTC (Steps 8–11)</a:t>
            </a:r>
            <a:endParaRPr>
              <a:solidFill>
                <a:srgbClr val="A61C00"/>
              </a:solidFill>
            </a:endParaRPr>
          </a:p>
        </p:txBody>
      </p:sp>
      <p:sp>
        <p:nvSpPr>
          <p:cNvPr id="116" name="Google Shape;116;p22"/>
          <p:cNvSpPr txBox="1">
            <a:spLocks noGrp="1"/>
          </p:cNvSpPr>
          <p:nvPr>
            <p:ph type="body" idx="1"/>
          </p:nvPr>
        </p:nvSpPr>
        <p:spPr>
          <a:xfrm>
            <a:off x="311700" y="813325"/>
            <a:ext cx="8520600" cy="416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rPr>
              <a:t>Goal:</a:t>
            </a:r>
            <a:r>
              <a:rPr lang="en">
                <a:solidFill>
                  <a:schemeClr val="dk1"/>
                </a:solidFill>
              </a:rPr>
              <a:t> Layer video calling on top of the WebSocket connection.</a:t>
            </a:r>
            <a:endParaRPr>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r>
              <a:rPr lang="en" b="1">
                <a:solidFill>
                  <a:schemeClr val="dk1"/>
                </a:solidFill>
              </a:rPr>
              <a:t>Key Activities:</a:t>
            </a:r>
            <a:endParaRPr b="1">
              <a:solidFill>
                <a:schemeClr val="dk1"/>
              </a:solidFill>
            </a:endParaRPr>
          </a:p>
          <a:p>
            <a:pPr marL="457200" lvl="0" indent="-342900" algn="l" rtl="0">
              <a:spcBef>
                <a:spcPts val="1200"/>
              </a:spcBef>
              <a:spcAft>
                <a:spcPts val="0"/>
              </a:spcAft>
              <a:buClr>
                <a:schemeClr val="dk1"/>
              </a:buClr>
              <a:buSzPts val="1800"/>
              <a:buChar char="●"/>
            </a:pPr>
            <a:r>
              <a:rPr lang="en" b="1">
                <a:solidFill>
                  <a:schemeClr val="dk1"/>
                </a:solidFill>
              </a:rPr>
              <a:t>Step 8:</a:t>
            </a:r>
            <a:r>
              <a:rPr lang="en">
                <a:solidFill>
                  <a:schemeClr val="dk1"/>
                </a:solidFill>
              </a:rPr>
              <a:t> Define Signaling Protocol (Offer, Answer, ICE Candidates).</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Step 9:</a:t>
            </a:r>
            <a:r>
              <a:rPr lang="en">
                <a:solidFill>
                  <a:schemeClr val="dk1"/>
                </a:solidFill>
              </a:rPr>
              <a:t> Local Media (</a:t>
            </a:r>
            <a:r>
              <a:rPr lang="en">
                <a:solidFill>
                  <a:srgbClr val="188038"/>
                </a:solidFill>
                <a:latin typeface="Roboto Mono"/>
                <a:ea typeface="Roboto Mono"/>
                <a:cs typeface="Roboto Mono"/>
                <a:sym typeface="Roboto Mono"/>
              </a:rPr>
              <a:t>getUserMedia</a:t>
            </a:r>
            <a:r>
              <a:rPr lang="en">
                <a:solidFill>
                  <a:schemeClr val="dk1"/>
                </a:solidFill>
              </a:rPr>
              <a:t>).</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Step 10:</a:t>
            </a:r>
            <a:r>
              <a:rPr lang="en">
                <a:solidFill>
                  <a:schemeClr val="dk1"/>
                </a:solidFill>
              </a:rPr>
              <a:t> Remote Peers (Handling </a:t>
            </a:r>
            <a:r>
              <a:rPr lang="en">
                <a:solidFill>
                  <a:srgbClr val="188038"/>
                </a:solidFill>
                <a:latin typeface="Roboto Mono"/>
                <a:ea typeface="Roboto Mono"/>
                <a:cs typeface="Roboto Mono"/>
                <a:sym typeface="Roboto Mono"/>
              </a:rPr>
              <a:t>ontrack</a:t>
            </a:r>
            <a:r>
              <a:rPr lang="en">
                <a:solidFill>
                  <a:schemeClr val="dk1"/>
                </a:solidFill>
              </a:rPr>
              <a:t> events).</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Step 11:</a:t>
            </a:r>
            <a:r>
              <a:rPr lang="en">
                <a:solidFill>
                  <a:schemeClr val="dk1"/>
                </a:solidFill>
              </a:rPr>
              <a:t> Media Controls (Mute/Unmute) &amp; Cleanup.</a:t>
            </a:r>
            <a:endParaRPr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700" y="128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A61C00"/>
                </a:solidFill>
              </a:rPr>
              <a:t>Analysis: Is it worth the complexity?</a:t>
            </a:r>
            <a:endParaRPr>
              <a:solidFill>
                <a:srgbClr val="A61C00"/>
              </a:solidFill>
            </a:endParaRPr>
          </a:p>
        </p:txBody>
      </p:sp>
      <p:sp>
        <p:nvSpPr>
          <p:cNvPr id="122" name="Google Shape;122;p23"/>
          <p:cNvSpPr txBox="1">
            <a:spLocks noGrp="1"/>
          </p:cNvSpPr>
          <p:nvPr>
            <p:ph type="body" idx="1"/>
          </p:nvPr>
        </p:nvSpPr>
        <p:spPr>
          <a:xfrm>
            <a:off x="311700" y="813325"/>
            <a:ext cx="8520600" cy="41607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b="1">
                <a:solidFill>
                  <a:schemeClr val="dk1"/>
                </a:solidFill>
              </a:rPr>
              <a:t>Pros:</a:t>
            </a:r>
            <a:endParaRPr b="1">
              <a:solidFill>
                <a:schemeClr val="dk1"/>
              </a:solidFill>
            </a:endParaRPr>
          </a:p>
          <a:p>
            <a:pPr marL="457200" lvl="0" indent="-342900" algn="l" rtl="0">
              <a:spcBef>
                <a:spcPts val="1200"/>
              </a:spcBef>
              <a:spcAft>
                <a:spcPts val="0"/>
              </a:spcAft>
              <a:buClr>
                <a:schemeClr val="dk1"/>
              </a:buClr>
              <a:buSzPts val="1800"/>
              <a:buChar char="●"/>
            </a:pPr>
            <a:r>
              <a:rPr lang="en" b="1">
                <a:solidFill>
                  <a:schemeClr val="dk1"/>
                </a:solidFill>
              </a:rPr>
              <a:t>Low Latency:</a:t>
            </a:r>
            <a:r>
              <a:rPr lang="en">
                <a:solidFill>
                  <a:schemeClr val="dk1"/>
                </a:solidFill>
              </a:rPr>
              <a:t> Essential for gaming and collaboration.</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Native:</a:t>
            </a:r>
            <a:r>
              <a:rPr lang="en">
                <a:solidFill>
                  <a:schemeClr val="dk1"/>
                </a:solidFill>
              </a:rPr>
              <a:t> No plugins required for HD video.</a:t>
            </a:r>
            <a:endParaRPr>
              <a:solidFill>
                <a:schemeClr val="dk1"/>
              </a:solidFill>
            </a:endParaRPr>
          </a:p>
          <a:p>
            <a:pPr marL="0" lvl="0" indent="0" algn="l" rtl="0">
              <a:spcBef>
                <a:spcPts val="1200"/>
              </a:spcBef>
              <a:spcAft>
                <a:spcPts val="0"/>
              </a:spcAft>
              <a:buNone/>
            </a:pPr>
            <a:r>
              <a:rPr lang="en" b="1">
                <a:solidFill>
                  <a:schemeClr val="dk1"/>
                </a:solidFill>
              </a:rPr>
              <a:t>Challenges:</a:t>
            </a:r>
            <a:endParaRPr b="1">
              <a:solidFill>
                <a:schemeClr val="dk1"/>
              </a:solidFill>
            </a:endParaRPr>
          </a:p>
          <a:p>
            <a:pPr marL="457200" lvl="0" indent="-342900" algn="l" rtl="0">
              <a:spcBef>
                <a:spcPts val="1200"/>
              </a:spcBef>
              <a:spcAft>
                <a:spcPts val="0"/>
              </a:spcAft>
              <a:buClr>
                <a:schemeClr val="dk1"/>
              </a:buClr>
              <a:buSzPts val="1800"/>
              <a:buChar char="●"/>
            </a:pPr>
            <a:r>
              <a:rPr lang="en" b="1">
                <a:solidFill>
                  <a:schemeClr val="dk1"/>
                </a:solidFill>
              </a:rPr>
              <a:t>Complexity:</a:t>
            </a:r>
            <a:r>
              <a:rPr lang="en">
                <a:solidFill>
                  <a:schemeClr val="dk1"/>
                </a:solidFill>
              </a:rPr>
              <a:t> State management is harder than stateless REST.</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Infrastructure:</a:t>
            </a:r>
            <a:r>
              <a:rPr lang="en">
                <a:solidFill>
                  <a:schemeClr val="dk1"/>
                </a:solidFill>
              </a:rPr>
              <a:t> Requires maintaining persistent connections; Scale is harder.</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Connectivity:</a:t>
            </a:r>
            <a:r>
              <a:rPr lang="en">
                <a:solidFill>
                  <a:schemeClr val="dk1"/>
                </a:solidFill>
              </a:rPr>
              <a:t> Corporate firewalls often require TURN servers.</a:t>
            </a:r>
            <a:endParaRPr>
              <a:solidFill>
                <a:schemeClr val="dk1"/>
              </a:solidFill>
            </a:endParaRPr>
          </a:p>
          <a:p>
            <a:pPr marL="0" lvl="0" indent="0" algn="l" rtl="0">
              <a:spcBef>
                <a:spcPts val="1200"/>
              </a:spcBef>
              <a:spcAft>
                <a:spcPts val="0"/>
              </a:spcAft>
              <a:buNone/>
            </a:pPr>
            <a:r>
              <a:rPr lang="en" b="1">
                <a:solidFill>
                  <a:schemeClr val="dk1"/>
                </a:solidFill>
              </a:rPr>
              <a:t>Verdict:</a:t>
            </a:r>
            <a:r>
              <a:rPr lang="en">
                <a:solidFill>
                  <a:schemeClr val="dk1"/>
                </a:solidFill>
              </a:rPr>
              <a:t> Excellent for collaboration apps, but overkill for simple CRUD data entry.</a:t>
            </a:r>
            <a:endParaRPr b="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126"/>
        <p:cNvGrpSpPr/>
        <p:nvPr/>
      </p:nvGrpSpPr>
      <p:grpSpPr>
        <a:xfrm>
          <a:off x="0" y="0"/>
          <a:ext cx="0" cy="0"/>
          <a:chOff x="0" y="0"/>
          <a:chExt cx="0" cy="0"/>
        </a:xfrm>
      </p:grpSpPr>
      <p:sp>
        <p:nvSpPr>
          <p:cNvPr id="127" name="Google Shape;127;p24"/>
          <p:cNvSpPr txBox="1">
            <a:spLocks noGrp="1"/>
          </p:cNvSpPr>
          <p:nvPr>
            <p:ph type="title"/>
          </p:nvPr>
        </p:nvSpPr>
        <p:spPr>
          <a:xfrm>
            <a:off x="311700" y="128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A61C00"/>
                </a:solidFill>
              </a:rPr>
              <a:t>References &amp; Future Work</a:t>
            </a:r>
            <a:endParaRPr>
              <a:solidFill>
                <a:srgbClr val="A61C00"/>
              </a:solidFill>
            </a:endParaRPr>
          </a:p>
        </p:txBody>
      </p:sp>
      <p:sp>
        <p:nvSpPr>
          <p:cNvPr id="128" name="Google Shape;128;p24"/>
          <p:cNvSpPr txBox="1">
            <a:spLocks noGrp="1"/>
          </p:cNvSpPr>
          <p:nvPr>
            <p:ph type="body" idx="1"/>
          </p:nvPr>
        </p:nvSpPr>
        <p:spPr>
          <a:xfrm>
            <a:off x="311700" y="813325"/>
            <a:ext cx="8520600" cy="416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b="1">
                <a:solidFill>
                  <a:schemeClr val="dk1"/>
                </a:solidFill>
              </a:rPr>
              <a:t>Future Work:</a:t>
            </a:r>
            <a:endParaRPr b="1">
              <a:solidFill>
                <a:schemeClr val="dk1"/>
              </a:solidFill>
            </a:endParaRPr>
          </a:p>
          <a:p>
            <a:pPr marL="457200" lvl="0" indent="-342900" algn="l" rtl="0">
              <a:spcBef>
                <a:spcPts val="1200"/>
              </a:spcBef>
              <a:spcAft>
                <a:spcPts val="0"/>
              </a:spcAft>
              <a:buClr>
                <a:schemeClr val="dk1"/>
              </a:buClr>
              <a:buSzPts val="1800"/>
              <a:buChar char="●"/>
            </a:pPr>
            <a:r>
              <a:rPr lang="en" b="1">
                <a:solidFill>
                  <a:schemeClr val="dk1"/>
                </a:solidFill>
              </a:rPr>
              <a:t>Live Code Editor:</a:t>
            </a:r>
            <a:r>
              <a:rPr lang="en">
                <a:solidFill>
                  <a:schemeClr val="dk1"/>
                </a:solidFill>
              </a:rPr>
              <a:t> Adding a 'Code' tab with a Monaco editor for collaborative coding.</a:t>
            </a:r>
            <a:endParaRPr>
              <a:solidFill>
                <a:schemeClr val="dk1"/>
              </a:solidFill>
            </a:endParaRPr>
          </a:p>
          <a:p>
            <a:pPr marL="457200" lvl="0" indent="-342900" algn="l" rtl="0">
              <a:spcBef>
                <a:spcPts val="0"/>
              </a:spcBef>
              <a:spcAft>
                <a:spcPts val="0"/>
              </a:spcAft>
              <a:buClr>
                <a:schemeClr val="dk1"/>
              </a:buClr>
              <a:buSzPts val="1800"/>
              <a:buChar char="●"/>
            </a:pPr>
            <a:r>
              <a:rPr lang="en" b="1">
                <a:solidFill>
                  <a:schemeClr val="dk1"/>
                </a:solidFill>
              </a:rPr>
              <a:t>Rich Presence:</a:t>
            </a:r>
            <a:r>
              <a:rPr lang="en">
                <a:solidFill>
                  <a:schemeClr val="dk1"/>
                </a:solidFill>
              </a:rPr>
              <a:t> Animations for 'Coding', 'Typing', or 'Thinking'.</a:t>
            </a:r>
            <a:endParaRPr>
              <a:solidFill>
                <a:schemeClr val="dk1"/>
              </a:solidFill>
            </a:endParaRPr>
          </a:p>
          <a:p>
            <a:pPr marL="0" lvl="0" indent="0" algn="l" rtl="0">
              <a:spcBef>
                <a:spcPts val="1200"/>
              </a:spcBef>
              <a:spcAft>
                <a:spcPts val="0"/>
              </a:spcAft>
              <a:buNone/>
            </a:pPr>
            <a:endParaRPr b="1">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Key References:</a:t>
            </a:r>
            <a:endParaRPr b="1">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RFC 6455 (The WebSocket Protocol).</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W3C WebRTC 1.0 Candidate Recommendation.</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MDN Web Docs (Media Streams API).</a:t>
            </a:r>
            <a:endParaRPr b="1">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6D7A8"/>
        </a:solidFill>
        <a:effectLst/>
      </p:bgPr>
    </p:bg>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311700" y="128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solidFill>
                <a:srgbClr val="A61C00"/>
              </a:solidFill>
            </a:endParaRPr>
          </a:p>
        </p:txBody>
      </p:sp>
      <p:sp>
        <p:nvSpPr>
          <p:cNvPr id="134" name="Google Shape;134;p25"/>
          <p:cNvSpPr txBox="1">
            <a:spLocks noGrp="1"/>
          </p:cNvSpPr>
          <p:nvPr>
            <p:ph type="body" idx="1"/>
          </p:nvPr>
        </p:nvSpPr>
        <p:spPr>
          <a:xfrm>
            <a:off x="311700" y="491400"/>
            <a:ext cx="8520600" cy="4160700"/>
          </a:xfrm>
          <a:prstGeom prst="rect">
            <a:avLst/>
          </a:prstGeom>
        </p:spPr>
        <p:txBody>
          <a:bodyPr spcFirstLastPara="1" wrap="square" lIns="91425" tIns="91425" rIns="91425" bIns="91425" anchor="ctr" anchorCtr="0">
            <a:normAutofit/>
          </a:bodyPr>
          <a:lstStyle/>
          <a:p>
            <a:pPr marL="0" lvl="0" indent="0" algn="ctr" rtl="0">
              <a:spcBef>
                <a:spcPts val="1200"/>
              </a:spcBef>
              <a:spcAft>
                <a:spcPts val="1200"/>
              </a:spcAft>
              <a:buNone/>
            </a:pPr>
            <a:r>
              <a:rPr lang="en" sz="4800" b="1">
                <a:solidFill>
                  <a:schemeClr val="dk1"/>
                </a:solidFill>
              </a:rPr>
              <a:t>Q&amp;A</a:t>
            </a:r>
            <a:endParaRPr sz="4800" b="1">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970</Words>
  <Application>Microsoft Macintosh PowerPoint</Application>
  <PresentationFormat>On-screen Show (16:9)</PresentationFormat>
  <Paragraphs>101</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Roboto Mono</vt:lpstr>
      <vt:lpstr>Arial</vt:lpstr>
      <vt:lpstr>Simple Light</vt:lpstr>
      <vt:lpstr>WebSockets + WebRTC Realtime Study Rooms Tutorial</vt:lpstr>
      <vt:lpstr>Why WebSockets + WebRTC?</vt:lpstr>
      <vt:lpstr>What have we delivered?</vt:lpstr>
      <vt:lpstr>Learning Outcomes and Traceability</vt:lpstr>
      <vt:lpstr>Background: History &amp; Standards</vt:lpstr>
      <vt:lpstr>PowerPoint Presentation</vt:lpstr>
      <vt:lpstr>Demo Architecture</vt:lpstr>
      <vt:lpstr>PowerPoint Presentation</vt:lpstr>
      <vt:lpstr>Phase 1: WebSockets (Steps 0–7)</vt:lpstr>
      <vt:lpstr>Phase 2: WebRTC (Steps 8–11)</vt:lpstr>
      <vt:lpstr>Analysis: Is it worth the complexity?</vt:lpstr>
      <vt:lpstr>References &amp;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Harshavardhan Kuthadi (Student)</cp:lastModifiedBy>
  <cp:revision>1</cp:revision>
  <dcterms:modified xsi:type="dcterms:W3CDTF">2025-12-09T02:56:16Z</dcterms:modified>
</cp:coreProperties>
</file>